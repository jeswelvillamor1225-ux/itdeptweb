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9" r:id="rId3"/>
    <p:sldId id="261" r:id="rId4"/>
    <p:sldId id="262" r:id="rId5"/>
    <p:sldId id="263" r:id="rId6"/>
    <p:sldId id="268" r:id="rId7"/>
    <p:sldId id="265" r:id="rId8"/>
    <p:sldId id="266" r:id="rId9"/>
  </p:sldIdLst>
  <p:sldSz cx="18288000" cy="10287000"/>
  <p:notesSz cx="6858000" cy="9144000"/>
  <p:embeddedFontLs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Open Sans" panose="020B0606030504020204" pitchFamily="34" charset="0"/>
      <p:regular r:id="rId14"/>
      <p:bold r:id="rId15"/>
      <p:italic r:id="rId16"/>
      <p:boldItalic r:id="rId17"/>
    </p:embeddedFont>
    <p:embeddedFont>
      <p:font typeface="Open Sans Bold" panose="020B0806030504020204" charset="0"/>
      <p:regular r:id="rId18"/>
      <p:bold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Bold" panose="00000800000000000000" charset="0"/>
      <p:regular r:id="rId24"/>
      <p:bold r:id="rId25"/>
      <p:italic r:id="rId26"/>
      <p:boldItalic r:id="rId27"/>
    </p:embeddedFont>
    <p:embeddedFont>
      <p:font typeface="Poppins ExtraBold" panose="00000900000000000000" pitchFamily="2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4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2" d="100"/>
          <a:sy n="52" d="100"/>
        </p:scale>
        <p:origin x="850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font" Target="fonts/font19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font" Target="fonts/font2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font" Target="fonts/font18.fntdata"/><Relationship Id="rId30" Type="http://schemas.openxmlformats.org/officeDocument/2006/relationships/font" Target="fonts/font2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2618527" y="-1745836"/>
            <a:ext cx="6304087" cy="630408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69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2915273" y="5804957"/>
            <a:ext cx="2284867" cy="228486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71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377238" y="4024806"/>
            <a:ext cx="951933" cy="951933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519007" y="3406629"/>
            <a:ext cx="8507318" cy="146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257"/>
              </a:lnSpc>
              <a:spcBef>
                <a:spcPct val="0"/>
              </a:spcBef>
            </a:pPr>
            <a:r>
              <a:rPr lang="en-US" sz="8755" b="1" dirty="0">
                <a:solidFill>
                  <a:srgbClr val="002D70"/>
                </a:solidFill>
                <a:latin typeface="Montserrat" pitchFamily="2" charset="0"/>
              </a:rPr>
              <a:t>VisayasMed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70727" y="4428331"/>
            <a:ext cx="1955598" cy="18172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275"/>
              </a:lnSpc>
              <a:spcBef>
                <a:spcPct val="0"/>
              </a:spcBef>
            </a:pPr>
            <a:r>
              <a:rPr lang="en-US" sz="10910" b="1" dirty="0">
                <a:solidFill>
                  <a:srgbClr val="002D70"/>
                </a:solidFill>
                <a:latin typeface="Montserrat" pitchFamily="2" charset="0"/>
              </a:rPr>
              <a:t>IT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09140" y="6355333"/>
            <a:ext cx="10906133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59"/>
              </a:lnSpc>
              <a:spcBef>
                <a:spcPct val="0"/>
              </a:spcBef>
            </a:pPr>
            <a:r>
              <a:rPr lang="en-US" sz="1899" spc="1160">
                <a:solidFill>
                  <a:srgbClr val="F66E1A"/>
                </a:solidFill>
                <a:latin typeface="Open Sans Bold"/>
              </a:rPr>
              <a:t>SLIDE PRESENTATION FOR NEW EMPLOYEES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alphaModFix amt="57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-4885497" y="4500772"/>
            <a:ext cx="6741095" cy="67410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2618527" y="-1745836"/>
            <a:ext cx="6304087" cy="630408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71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377238" y="4024806"/>
            <a:ext cx="951933" cy="951933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alphaModFix amt="57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-4885497" y="4500772"/>
            <a:ext cx="6741095" cy="6741095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BB5A553-69E8-A6B5-60AF-95296AB839D8}"/>
              </a:ext>
            </a:extLst>
          </p:cNvPr>
          <p:cNvCxnSpPr>
            <a:cxnSpLocks/>
          </p:cNvCxnSpPr>
          <p:nvPr/>
        </p:nvCxnSpPr>
        <p:spPr>
          <a:xfrm>
            <a:off x="5015537" y="5981938"/>
            <a:ext cx="0" cy="114412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FFD2C49-E9EC-73C8-379C-D037109A19ED}"/>
              </a:ext>
            </a:extLst>
          </p:cNvPr>
          <p:cNvCxnSpPr>
            <a:cxnSpLocks/>
          </p:cNvCxnSpPr>
          <p:nvPr/>
        </p:nvCxnSpPr>
        <p:spPr>
          <a:xfrm>
            <a:off x="12071608" y="6023195"/>
            <a:ext cx="9948" cy="110287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4A5BB7-00D8-D5A3-181A-30EBDB9C7827}"/>
              </a:ext>
            </a:extLst>
          </p:cNvPr>
          <p:cNvCxnSpPr>
            <a:cxnSpLocks/>
          </p:cNvCxnSpPr>
          <p:nvPr/>
        </p:nvCxnSpPr>
        <p:spPr>
          <a:xfrm>
            <a:off x="8814735" y="4790589"/>
            <a:ext cx="38565" cy="2166953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DA8835E-E16D-8543-1176-EF070A490414}"/>
              </a:ext>
            </a:extLst>
          </p:cNvPr>
          <p:cNvCxnSpPr>
            <a:cxnSpLocks/>
          </p:cNvCxnSpPr>
          <p:nvPr/>
        </p:nvCxnSpPr>
        <p:spPr>
          <a:xfrm>
            <a:off x="8853300" y="2828391"/>
            <a:ext cx="0" cy="147047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B6DAAF56-3D6A-7783-D391-07D780ECC8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574" y="417727"/>
            <a:ext cx="2944321" cy="23309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C32CAF-4944-7E09-1381-F2F19508160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7953" y="3234073"/>
            <a:ext cx="2633561" cy="21728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AEB0417-E202-35E3-EBE1-927784661B9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088" y="7047658"/>
            <a:ext cx="2500552" cy="17828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A6722F0-068C-7733-1E60-AE26B411356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2863" y="6874984"/>
            <a:ext cx="2747942" cy="19555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DA3A34A-DB04-DDCF-CBC1-5BF2DCFCB5C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915" y="6957542"/>
            <a:ext cx="2633561" cy="1790442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5AD5D8A-ED4C-60CF-79DC-22B9D6C0E019}"/>
              </a:ext>
            </a:extLst>
          </p:cNvPr>
          <p:cNvCxnSpPr>
            <a:cxnSpLocks/>
          </p:cNvCxnSpPr>
          <p:nvPr/>
        </p:nvCxnSpPr>
        <p:spPr>
          <a:xfrm flipH="1">
            <a:off x="5032575" y="6023195"/>
            <a:ext cx="7039033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69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2915273" y="5804957"/>
            <a:ext cx="2284867" cy="228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61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205735" y="1178928"/>
            <a:ext cx="192115" cy="245728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1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9272101" y="-3152044"/>
            <a:ext cx="6304087" cy="6304087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7187969" y="4191567"/>
            <a:ext cx="951933" cy="951933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alphaModFix amt="29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6783333" y="3851482"/>
            <a:ext cx="951933" cy="951933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alphaModFix amt="19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-5098352" y="4497891"/>
            <a:ext cx="6304087" cy="6304087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D82857B6-76EA-1550-1413-18FAA7C9E4DA}"/>
              </a:ext>
            </a:extLst>
          </p:cNvPr>
          <p:cNvGrpSpPr/>
          <p:nvPr/>
        </p:nvGrpSpPr>
        <p:grpSpPr>
          <a:xfrm>
            <a:off x="1170255" y="5836115"/>
            <a:ext cx="3034926" cy="1418818"/>
            <a:chOff x="1028700" y="6615341"/>
            <a:chExt cx="3034926" cy="1418818"/>
          </a:xfrm>
        </p:grpSpPr>
        <p:sp>
          <p:nvSpPr>
            <p:cNvPr id="12" name="TextBox 12"/>
            <p:cNvSpPr txBox="1"/>
            <p:nvPr/>
          </p:nvSpPr>
          <p:spPr>
            <a:xfrm>
              <a:off x="1028700" y="7094415"/>
              <a:ext cx="3034926" cy="9397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56"/>
                </a:lnSpc>
              </a:pPr>
              <a:r>
                <a:rPr lang="en-US" sz="1754" dirty="0">
                  <a:solidFill>
                    <a:srgbClr val="002D70"/>
                  </a:solidFill>
                  <a:latin typeface="Open Sans"/>
                </a:rPr>
                <a:t>Install, configure </a:t>
              </a:r>
            </a:p>
            <a:p>
              <a:pPr algn="ctr">
                <a:lnSpc>
                  <a:spcPts val="2456"/>
                </a:lnSpc>
              </a:pPr>
              <a:r>
                <a:rPr lang="en-US" sz="1754" dirty="0">
                  <a:solidFill>
                    <a:srgbClr val="002D70"/>
                  </a:solidFill>
                  <a:latin typeface="Open Sans"/>
                </a:rPr>
                <a:t>and maintain </a:t>
              </a:r>
            </a:p>
            <a:p>
              <a:pPr algn="ctr">
                <a:lnSpc>
                  <a:spcPts val="2456"/>
                </a:lnSpc>
              </a:pPr>
              <a:r>
                <a:rPr lang="en-US" sz="1754" dirty="0">
                  <a:solidFill>
                    <a:srgbClr val="002D70"/>
                  </a:solidFill>
                  <a:latin typeface="Open Sans"/>
                </a:rPr>
                <a:t>VisayasMed servers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01737" y="6615341"/>
              <a:ext cx="1488852" cy="4984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F66E1A"/>
                  </a:solidFill>
                  <a:latin typeface="Poppins Bold"/>
                </a:rPr>
                <a:t>SERVER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534615" y="2227043"/>
            <a:ext cx="5286384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319"/>
              </a:lnSpc>
            </a:pPr>
            <a:r>
              <a:rPr lang="en-US" sz="6099">
                <a:solidFill>
                  <a:srgbClr val="002D70"/>
                </a:solidFill>
                <a:latin typeface="Poppins Bold"/>
              </a:rPr>
              <a:t>What we do?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34615" y="3010943"/>
            <a:ext cx="7277787" cy="7014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60"/>
              </a:lnSpc>
            </a:pPr>
            <a:r>
              <a:rPr lang="en-US" sz="4000" dirty="0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Scope and Responsibilities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0B777EB-4563-D18F-EC53-73C910DA40C5}"/>
              </a:ext>
            </a:extLst>
          </p:cNvPr>
          <p:cNvGrpSpPr/>
          <p:nvPr/>
        </p:nvGrpSpPr>
        <p:grpSpPr>
          <a:xfrm>
            <a:off x="5104976" y="5826873"/>
            <a:ext cx="3034926" cy="2389862"/>
            <a:chOff x="4347077" y="6606099"/>
            <a:chExt cx="3034926" cy="2389862"/>
          </a:xfrm>
        </p:grpSpPr>
        <p:sp>
          <p:nvSpPr>
            <p:cNvPr id="16" name="TextBox 16"/>
            <p:cNvSpPr txBox="1"/>
            <p:nvPr/>
          </p:nvSpPr>
          <p:spPr>
            <a:xfrm>
              <a:off x="4347077" y="7094415"/>
              <a:ext cx="3034926" cy="19015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56"/>
                </a:lnSpc>
              </a:pPr>
              <a:r>
                <a:rPr lang="en-US" sz="1754">
                  <a:solidFill>
                    <a:srgbClr val="002D70"/>
                  </a:solidFill>
                  <a:latin typeface="Open Sans"/>
                </a:rPr>
                <a:t>Taking care of every aspect of security to protect systems from cyber threats, malware and hacking attempts.</a:t>
              </a:r>
            </a:p>
            <a:p>
              <a:pPr algn="ctr">
                <a:lnSpc>
                  <a:spcPts val="2456"/>
                </a:lnSpc>
              </a:pPr>
              <a:endParaRPr lang="en-US" sz="1754">
                <a:solidFill>
                  <a:srgbClr val="002D70"/>
                </a:solidFill>
                <a:latin typeface="Open San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18271" y="6606099"/>
              <a:ext cx="1892538" cy="5168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F66E1A"/>
                  </a:solidFill>
                  <a:latin typeface="Poppins Bold"/>
                </a:rPr>
                <a:t>SECURITY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B8CBB49-6598-46BB-A84E-BD06859E7ADC}"/>
              </a:ext>
            </a:extLst>
          </p:cNvPr>
          <p:cNvGrpSpPr/>
          <p:nvPr/>
        </p:nvGrpSpPr>
        <p:grpSpPr>
          <a:xfrm>
            <a:off x="9039697" y="5826873"/>
            <a:ext cx="3216331" cy="2069262"/>
            <a:chOff x="8558155" y="6606099"/>
            <a:chExt cx="3216331" cy="2069262"/>
          </a:xfrm>
        </p:grpSpPr>
        <p:sp>
          <p:nvSpPr>
            <p:cNvPr id="18" name="TextBox 18"/>
            <p:cNvSpPr txBox="1"/>
            <p:nvPr/>
          </p:nvSpPr>
          <p:spPr>
            <a:xfrm>
              <a:off x="8648857" y="7094415"/>
              <a:ext cx="3034926" cy="15809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56"/>
                </a:lnSpc>
              </a:pPr>
              <a:r>
                <a:rPr lang="en-US" sz="1754" dirty="0">
                  <a:solidFill>
                    <a:srgbClr val="002D70"/>
                  </a:solidFill>
                  <a:latin typeface="Open Sans"/>
                </a:rPr>
                <a:t>Manage different cloud services and subscriptions critical to VisayasMed operations.</a:t>
              </a:r>
            </a:p>
            <a:p>
              <a:pPr algn="ctr">
                <a:lnSpc>
                  <a:spcPts val="2456"/>
                </a:lnSpc>
              </a:pPr>
              <a:endParaRPr lang="en-US" sz="1754" dirty="0">
                <a:solidFill>
                  <a:srgbClr val="002D70"/>
                </a:solidFill>
                <a:latin typeface="Open San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58155" y="6606099"/>
              <a:ext cx="3216331" cy="5168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F66E1A"/>
                  </a:solidFill>
                  <a:latin typeface="Poppins Bold"/>
                </a:rPr>
                <a:t>CLOUD SERVICES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86AFC29-C35A-63E4-73A4-5A96970418A7}"/>
              </a:ext>
            </a:extLst>
          </p:cNvPr>
          <p:cNvGrpSpPr/>
          <p:nvPr/>
        </p:nvGrpSpPr>
        <p:grpSpPr>
          <a:xfrm>
            <a:off x="13155824" y="5826874"/>
            <a:ext cx="3902131" cy="1428059"/>
            <a:chOff x="13014269" y="6606100"/>
            <a:chExt cx="3902131" cy="1428059"/>
          </a:xfrm>
        </p:grpSpPr>
        <p:sp>
          <p:nvSpPr>
            <p:cNvPr id="20" name="TextBox 20"/>
            <p:cNvSpPr txBox="1"/>
            <p:nvPr/>
          </p:nvSpPr>
          <p:spPr>
            <a:xfrm>
              <a:off x="13447871" y="7094415"/>
              <a:ext cx="3034926" cy="9397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56"/>
                </a:lnSpc>
              </a:pPr>
              <a:r>
                <a:rPr lang="en-US" sz="1754" dirty="0">
                  <a:solidFill>
                    <a:srgbClr val="002D70"/>
                  </a:solidFill>
                  <a:latin typeface="Open Sans"/>
                </a:rPr>
                <a:t>Ensures that VisayasMed is operating 24 x 7.</a:t>
              </a:r>
            </a:p>
            <a:p>
              <a:pPr algn="ctr">
                <a:lnSpc>
                  <a:spcPts val="2456"/>
                </a:lnSpc>
              </a:pPr>
              <a:endParaRPr lang="en-US" sz="1754" dirty="0">
                <a:solidFill>
                  <a:srgbClr val="002D70"/>
                </a:solidFill>
                <a:latin typeface="Open San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014269" y="6606100"/>
              <a:ext cx="3902131" cy="4984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F66E1A"/>
                  </a:solidFill>
                  <a:latin typeface="Poppins Bold"/>
                </a:rPr>
                <a:t>INTERNET BACKBONE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205735" y="1178928"/>
            <a:ext cx="192115" cy="245728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1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9272101" y="-3152044"/>
            <a:ext cx="6304087" cy="6304087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7187969" y="4191567"/>
            <a:ext cx="951933" cy="951933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alphaModFix amt="29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6783333" y="3851482"/>
            <a:ext cx="951933" cy="951933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alphaModFix amt="19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-5098352" y="4497891"/>
            <a:ext cx="6304087" cy="6304087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092200" y="6581366"/>
            <a:ext cx="3216331" cy="1031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66E1A"/>
                </a:solidFill>
                <a:latin typeface="Poppins Bold"/>
              </a:rPr>
              <a:t>TECHNICAL SUPPORT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87140" y="1793053"/>
            <a:ext cx="6028053" cy="960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319"/>
              </a:lnSpc>
            </a:pPr>
            <a:r>
              <a:rPr lang="en-US" sz="7200" dirty="0">
                <a:solidFill>
                  <a:srgbClr val="002D70"/>
                </a:solidFill>
                <a:latin typeface="Poppins Bold"/>
              </a:rPr>
              <a:t>What we do?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101440" y="2448136"/>
            <a:ext cx="5606535" cy="6845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60"/>
              </a:lnSpc>
            </a:pPr>
            <a:r>
              <a:rPr lang="en-US" sz="3200" dirty="0">
                <a:solidFill>
                  <a:srgbClr val="002D70"/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Scope and Responsibilities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53181" y="6581366"/>
            <a:ext cx="2745664" cy="1031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66E1A"/>
                </a:solidFill>
                <a:latin typeface="Poppins Bold"/>
              </a:rPr>
              <a:t>ACCESS MANAGEMENT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448160" y="6581366"/>
            <a:ext cx="3216331" cy="1031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66E1A"/>
                </a:solidFill>
                <a:latin typeface="Poppins Bold"/>
              </a:rPr>
              <a:t>DATA &amp; STORAGE MANAGEMENT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86817" y="6838541"/>
            <a:ext cx="4245031" cy="516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66E1A"/>
                </a:solidFill>
                <a:latin typeface="Poppins Bold"/>
              </a:rPr>
              <a:t>TELECOMS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92200" y="7960126"/>
            <a:ext cx="3216331" cy="1545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66E1A"/>
                </a:solidFill>
                <a:latin typeface="Poppins Bold"/>
              </a:rPr>
              <a:t>BACK UP &amp; DISASTER RECOVERY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17848" y="8217301"/>
            <a:ext cx="3216331" cy="1031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66E1A"/>
                </a:solidFill>
                <a:latin typeface="Poppins Bold"/>
              </a:rPr>
              <a:t>END USER MANAGEMENT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01167" y="8217301"/>
            <a:ext cx="3216331" cy="1031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66E1A"/>
                </a:solidFill>
                <a:latin typeface="Poppins Bold"/>
              </a:rPr>
              <a:t>APPLICATION MANAGEMENT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448160" y="8217301"/>
            <a:ext cx="3216331" cy="1031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66E1A"/>
                </a:solidFill>
                <a:latin typeface="Poppins Bold"/>
              </a:rPr>
              <a:t>VENDOR MANAGEMENT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14000"/>
          </a:blip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2618527" y="-1745836"/>
            <a:ext cx="6304087" cy="630408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69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2915273" y="5804957"/>
            <a:ext cx="2284867" cy="228486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71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1377238" y="4024806"/>
            <a:ext cx="951933" cy="951933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855598" y="3635985"/>
            <a:ext cx="8507318" cy="1497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257"/>
              </a:lnSpc>
              <a:spcBef>
                <a:spcPct val="0"/>
              </a:spcBef>
            </a:pPr>
            <a:r>
              <a:rPr lang="en-US" sz="8755" dirty="0">
                <a:solidFill>
                  <a:srgbClr val="002D70"/>
                </a:solidFill>
                <a:latin typeface="Poppins Bold"/>
              </a:rPr>
              <a:t>VisayasMed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55598" y="5218852"/>
            <a:ext cx="13761431" cy="1010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2D70"/>
                </a:solidFill>
                <a:latin typeface="Poppins ExtraBold"/>
              </a:rPr>
              <a:t>ACCEPTABLE USE STANDARD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09140" y="6534785"/>
            <a:ext cx="10906133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59"/>
              </a:lnSpc>
              <a:spcBef>
                <a:spcPct val="0"/>
              </a:spcBef>
            </a:pPr>
            <a:r>
              <a:rPr lang="en-US" sz="1899" spc="1160">
                <a:solidFill>
                  <a:srgbClr val="F66E1A"/>
                </a:solidFill>
                <a:latin typeface="Open Sans Bold"/>
              </a:rPr>
              <a:t>SLIDE PRESENTATION FOR NEW EMPLOYEES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alphaModFix amt="57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-4885497" y="4500772"/>
            <a:ext cx="6741095" cy="67410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09CF20D4-485B-3FF5-C0EF-07CEB4F2E944}"/>
              </a:ext>
            </a:extLst>
          </p:cNvPr>
          <p:cNvGrpSpPr/>
          <p:nvPr/>
        </p:nvGrpSpPr>
        <p:grpSpPr>
          <a:xfrm>
            <a:off x="2317492" y="3147855"/>
            <a:ext cx="1447374" cy="1447374"/>
            <a:chOff x="1858259" y="4230521"/>
            <a:chExt cx="1447374" cy="144737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1858259" y="4230521"/>
              <a:ext cx="1447374" cy="1447374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1980299" y="4635866"/>
              <a:ext cx="1203294" cy="5700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72"/>
                </a:lnSpc>
                <a:spcBef>
                  <a:spcPct val="0"/>
                </a:spcBef>
              </a:pPr>
              <a:r>
                <a:rPr lang="en-US" sz="3337">
                  <a:solidFill>
                    <a:srgbClr val="FFFFFF"/>
                  </a:solidFill>
                  <a:latin typeface="Open Sans Bold"/>
                </a:rPr>
                <a:t>01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422550" y="3871542"/>
            <a:ext cx="4873500" cy="1355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2D70"/>
                </a:solidFill>
                <a:latin typeface="Open Sans Bold"/>
              </a:rPr>
              <a:t>Always lock your workstation  whenever you leave the device unattended.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60C695E-5A25-CA20-C9D2-7836FFDA309E}"/>
              </a:ext>
            </a:extLst>
          </p:cNvPr>
          <p:cNvGrpSpPr/>
          <p:nvPr/>
        </p:nvGrpSpPr>
        <p:grpSpPr>
          <a:xfrm>
            <a:off x="2317492" y="6295710"/>
            <a:ext cx="1447374" cy="1447374"/>
            <a:chOff x="1858259" y="6860932"/>
            <a:chExt cx="1447374" cy="1447374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1858259" y="6860932"/>
              <a:ext cx="1447374" cy="1447374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1980299" y="7266277"/>
              <a:ext cx="1203294" cy="5700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72"/>
                </a:lnSpc>
                <a:spcBef>
                  <a:spcPct val="0"/>
                </a:spcBef>
              </a:pPr>
              <a:r>
                <a:rPr lang="en-US" sz="3337">
                  <a:solidFill>
                    <a:srgbClr val="FFFFFF"/>
                  </a:solidFill>
                  <a:latin typeface="Open Sans Bold"/>
                </a:rPr>
                <a:t>03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F01434-DECA-A9D9-62A5-D532CF027F33}"/>
              </a:ext>
            </a:extLst>
          </p:cNvPr>
          <p:cNvGrpSpPr/>
          <p:nvPr/>
        </p:nvGrpSpPr>
        <p:grpSpPr>
          <a:xfrm>
            <a:off x="9679579" y="3150761"/>
            <a:ext cx="1447374" cy="1447374"/>
            <a:chOff x="9731182" y="4230521"/>
            <a:chExt cx="1447374" cy="1447374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9731182" y="4230521"/>
              <a:ext cx="1447374" cy="1447374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9853222" y="4635866"/>
              <a:ext cx="1203294" cy="5700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72"/>
                </a:lnSpc>
                <a:spcBef>
                  <a:spcPct val="0"/>
                </a:spcBef>
              </a:pPr>
              <a:r>
                <a:rPr lang="en-US" sz="3337">
                  <a:solidFill>
                    <a:srgbClr val="FFFFFF"/>
                  </a:solidFill>
                  <a:latin typeface="Open Sans Bold"/>
                </a:rPr>
                <a:t>02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27FD5C0-7AFF-E465-6DA5-242408B3499A}"/>
              </a:ext>
            </a:extLst>
          </p:cNvPr>
          <p:cNvGrpSpPr/>
          <p:nvPr/>
        </p:nvGrpSpPr>
        <p:grpSpPr>
          <a:xfrm>
            <a:off x="9679579" y="6296243"/>
            <a:ext cx="1447374" cy="1447374"/>
            <a:chOff x="9731182" y="6860932"/>
            <a:chExt cx="1447374" cy="1447374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9731182" y="6860932"/>
              <a:ext cx="1447374" cy="1447374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9853222" y="7266277"/>
              <a:ext cx="1203294" cy="5700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72"/>
                </a:lnSpc>
                <a:spcBef>
                  <a:spcPct val="0"/>
                </a:spcBef>
              </a:pPr>
              <a:r>
                <a:rPr lang="en-US" sz="3337">
                  <a:solidFill>
                    <a:srgbClr val="FFFFFF"/>
                  </a:solidFill>
                  <a:latin typeface="Open Sans Bold"/>
                </a:rPr>
                <a:t>04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422550" y="1510062"/>
            <a:ext cx="114429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>
                <a:solidFill>
                  <a:srgbClr val="002D70"/>
                </a:solidFill>
                <a:latin typeface="Poppins Bold"/>
              </a:rPr>
              <a:t>General Requirements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01294" y="3702150"/>
            <a:ext cx="4873500" cy="181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2D70"/>
                </a:solidFill>
                <a:latin typeface="Open Sans Bold"/>
              </a:rPr>
              <a:t>Avoid leaving your laptop anywhere. You may keep it in a locked drawer or cabinet before going home.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55275" y="6926331"/>
            <a:ext cx="4873500" cy="1819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50">
                <a:solidFill>
                  <a:srgbClr val="002D70"/>
                </a:solidFill>
                <a:latin typeface="Open Sans Bold"/>
              </a:rPr>
              <a:t>Do not download or possess any unapproved, unauthorized, or unlicensed application or software.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22550" y="7154932"/>
            <a:ext cx="4873500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50">
                <a:solidFill>
                  <a:srgbClr val="002D70"/>
                </a:solidFill>
                <a:latin typeface="Open Sans Bold"/>
              </a:rPr>
              <a:t>Do not write down passwords and/or stick them on tables or monitors.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">
            <a:alphaModFix amt="43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4695340" y="-2587745"/>
            <a:ext cx="6304087" cy="6304087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">
            <a:alphaModFix amt="47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2875960" y="10085250"/>
            <a:ext cx="2284867" cy="2284867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">
            <a:alphaModFix amt="47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-5425761" y="1567212"/>
            <a:ext cx="6741095" cy="674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198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620134" y="2868874"/>
            <a:ext cx="1447374" cy="1447374"/>
            <a:chOff x="0" y="0"/>
            <a:chExt cx="1929832" cy="1929832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929832" cy="1929832"/>
            </a:xfrm>
            <a:prstGeom prst="rect">
              <a:avLst/>
            </a:prstGeom>
          </p:spPr>
        </p:pic>
        <p:sp>
          <p:nvSpPr>
            <p:cNvPr id="5" name="TextBox 5"/>
            <p:cNvSpPr txBox="1"/>
            <p:nvPr/>
          </p:nvSpPr>
          <p:spPr>
            <a:xfrm>
              <a:off x="162720" y="562685"/>
              <a:ext cx="1604393" cy="7377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72"/>
                </a:lnSpc>
                <a:spcBef>
                  <a:spcPct val="0"/>
                </a:spcBef>
              </a:pPr>
              <a:r>
                <a:rPr lang="en-US" sz="3337">
                  <a:solidFill>
                    <a:srgbClr val="FFFFFF"/>
                  </a:solidFill>
                  <a:latin typeface="Open Sans Bold"/>
                </a:rPr>
                <a:t>05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422550" y="2425431"/>
            <a:ext cx="4873500" cy="181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2D70"/>
                </a:solidFill>
                <a:latin typeface="Open Sans Bold"/>
              </a:rPr>
              <a:t>Avoid downloading copyrighted content, such as music, images, and videos/movies.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20134" y="5339900"/>
            <a:ext cx="1447374" cy="1447374"/>
            <a:chOff x="0" y="0"/>
            <a:chExt cx="1929832" cy="1929832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929832" cy="1929832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162720" y="562685"/>
              <a:ext cx="1604393" cy="7377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72"/>
                </a:lnSpc>
                <a:spcBef>
                  <a:spcPct val="0"/>
                </a:spcBef>
              </a:pPr>
              <a:r>
                <a:rPr lang="en-US" sz="3337">
                  <a:solidFill>
                    <a:srgbClr val="FFFFFF"/>
                  </a:solidFill>
                  <a:latin typeface="Open Sans Bold"/>
                </a:rPr>
                <a:t>07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31182" y="2868874"/>
            <a:ext cx="1447374" cy="1447374"/>
            <a:chOff x="0" y="0"/>
            <a:chExt cx="1929832" cy="1929832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929832" cy="1929832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162720" y="562685"/>
              <a:ext cx="1604393" cy="7377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72"/>
                </a:lnSpc>
                <a:spcBef>
                  <a:spcPct val="0"/>
                </a:spcBef>
              </a:pPr>
              <a:r>
                <a:rPr lang="en-US" sz="3337">
                  <a:solidFill>
                    <a:srgbClr val="FFFFFF"/>
                  </a:solidFill>
                  <a:latin typeface="Open Sans Bold"/>
                </a:rPr>
                <a:t>06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31182" y="5339900"/>
            <a:ext cx="1447374" cy="1447374"/>
            <a:chOff x="0" y="0"/>
            <a:chExt cx="1929832" cy="1929832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929832" cy="1929832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162720" y="562685"/>
              <a:ext cx="1604393" cy="7377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72"/>
                </a:lnSpc>
                <a:spcBef>
                  <a:spcPct val="0"/>
                </a:spcBef>
              </a:pPr>
              <a:r>
                <a:rPr lang="en-US" sz="3337">
                  <a:solidFill>
                    <a:srgbClr val="FFFFFF"/>
                  </a:solidFill>
                  <a:latin typeface="Open Sans Bold"/>
                </a:rPr>
                <a:t>08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422550" y="944611"/>
            <a:ext cx="114429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>
                <a:solidFill>
                  <a:srgbClr val="002D70"/>
                </a:solidFill>
                <a:latin typeface="Poppins Bold"/>
              </a:rPr>
              <a:t>General Requirements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16681" y="2349679"/>
            <a:ext cx="4873500" cy="273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2D70"/>
                </a:solidFill>
                <a:latin typeface="Open Sans Bold"/>
              </a:rPr>
              <a:t>Do not leave printed or handwritten documents that contain sensitive information exposed; keep it locked in a closed drawer or cabinet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16681" y="5464989"/>
            <a:ext cx="4873500" cy="227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50" dirty="0">
                <a:solidFill>
                  <a:srgbClr val="002D70"/>
                </a:solidFill>
                <a:latin typeface="Open Sans Bold"/>
              </a:rPr>
              <a:t>Avoid storing VisayasMed Information in portable medias (unless authorized and using approved encrypted media).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2">
            <a:alphaModFix amt="43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4695340" y="-2587745"/>
            <a:ext cx="6304087" cy="6304087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alphaModFix amt="47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2875960" y="10085250"/>
            <a:ext cx="2284867" cy="2284867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">
            <a:alphaModFix amt="47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-5425761" y="1567212"/>
            <a:ext cx="6741095" cy="6741095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1620134" y="7742100"/>
            <a:ext cx="1447374" cy="1447374"/>
            <a:chOff x="0" y="0"/>
            <a:chExt cx="1929832" cy="1929832"/>
          </a:xfrm>
        </p:grpSpPr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929832" cy="1929832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162720" y="562685"/>
              <a:ext cx="1604393" cy="7377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72"/>
                </a:lnSpc>
                <a:spcBef>
                  <a:spcPct val="0"/>
                </a:spcBef>
              </a:pPr>
              <a:r>
                <a:rPr lang="en-US" sz="3337">
                  <a:solidFill>
                    <a:srgbClr val="FFFFFF"/>
                  </a:solidFill>
                  <a:latin typeface="Open Sans Bold"/>
                </a:rPr>
                <a:t>09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3305633" y="5283790"/>
            <a:ext cx="4873500" cy="1819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50">
                <a:solidFill>
                  <a:srgbClr val="002D70"/>
                </a:solidFill>
                <a:latin typeface="Open Sans Bold"/>
              </a:rPr>
              <a:t>Do not use company internet for non-business purposes and accessing of prohibited sites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05633" y="7551376"/>
            <a:ext cx="4873500" cy="227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50" dirty="0">
                <a:solidFill>
                  <a:srgbClr val="002D70"/>
                </a:solidFill>
                <a:latin typeface="Open Sans Bold"/>
              </a:rPr>
              <a:t>Maintain regular back-up and saving of critical company files in an VisayasMed authorized location (SharePoint, OneDrive)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1028700"/>
            <a:ext cx="546184" cy="546184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4923308" y="-1307292"/>
            <a:ext cx="4671984" cy="4671984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492753" y="3201543"/>
            <a:ext cx="13235817" cy="5105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88"/>
              </a:lnSpc>
            </a:pPr>
            <a:r>
              <a:rPr lang="en-US" sz="9600" dirty="0">
                <a:solidFill>
                  <a:srgbClr val="002D70"/>
                </a:solidFill>
                <a:latin typeface="Poppins ExtraBold"/>
              </a:rPr>
              <a:t>Thank You </a:t>
            </a:r>
          </a:p>
          <a:p>
            <a:pPr algn="ctr">
              <a:lnSpc>
                <a:spcPts val="9888"/>
              </a:lnSpc>
            </a:pPr>
            <a:r>
              <a:rPr lang="en-US" sz="9600" dirty="0">
                <a:solidFill>
                  <a:srgbClr val="002D70"/>
                </a:solidFill>
                <a:latin typeface="Poppins ExtraBold"/>
              </a:rPr>
              <a:t>&amp; </a:t>
            </a:r>
          </a:p>
          <a:p>
            <a:pPr algn="ctr">
              <a:lnSpc>
                <a:spcPts val="9888"/>
              </a:lnSpc>
            </a:pPr>
            <a:r>
              <a:rPr lang="en-US" sz="9600" dirty="0">
                <a:solidFill>
                  <a:srgbClr val="002D70"/>
                </a:solidFill>
                <a:latin typeface="Poppins ExtraBold"/>
              </a:rPr>
              <a:t>Welcome to </a:t>
            </a:r>
          </a:p>
          <a:p>
            <a:pPr algn="ctr">
              <a:lnSpc>
                <a:spcPts val="9888"/>
              </a:lnSpc>
            </a:pPr>
            <a:r>
              <a:rPr lang="en-US" sz="9600" dirty="0">
                <a:solidFill>
                  <a:srgbClr val="002D70"/>
                </a:solidFill>
                <a:latin typeface="Poppins ExtraBold"/>
              </a:rPr>
              <a:t>VisayasMed 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-1307292" y="6922308"/>
            <a:ext cx="4671984" cy="4671984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2856594" y="1028700"/>
            <a:ext cx="1391836" cy="1391836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2" cstate="print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5465163" y="3776299"/>
            <a:ext cx="593492" cy="593492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alphaModFix amt="20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039570" y="7866464"/>
            <a:ext cx="1391836" cy="1391836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2" cstate="print">
            <a:alphaModFix amt="2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2229345" y="5917209"/>
            <a:ext cx="593492" cy="5934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270</Words>
  <Application>Microsoft Office PowerPoint</Application>
  <PresentationFormat>Custom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Montserrat</vt:lpstr>
      <vt:lpstr>Open Sans</vt:lpstr>
      <vt:lpstr>Poppins</vt:lpstr>
      <vt:lpstr>Poppins Bold</vt:lpstr>
      <vt:lpstr>Open Sans Bold</vt:lpstr>
      <vt:lpstr>Calibri</vt:lpstr>
      <vt:lpstr>Arial</vt:lpstr>
      <vt:lpstr>Poppins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CCLEC Presentation for New Employees</dc:title>
  <dc:creator>AVMC</dc:creator>
  <cp:lastModifiedBy>Romel Banquil</cp:lastModifiedBy>
  <cp:revision>6</cp:revision>
  <dcterms:created xsi:type="dcterms:W3CDTF">2006-08-16T00:00:00Z</dcterms:created>
  <dcterms:modified xsi:type="dcterms:W3CDTF">2024-06-25T08:52:58Z</dcterms:modified>
  <dc:identifier>DAFZO8Aqjv8</dc:identifier>
</cp:coreProperties>
</file>